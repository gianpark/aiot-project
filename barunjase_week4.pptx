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1556" y="621792"/>
            <a:ext cx="1005840" cy="10058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3074" y="883310"/>
            <a:ext cx="482803" cy="482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14400" y="187452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5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임베디드소프트웨어학과 · 캡스톤 프로젝트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2286000"/>
            <a:ext cx="10360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카메라 확정, 첫 실측 게이트 통과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291840"/>
            <a:ext cx="10360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바른자세 · 4주차 발표 — 계획과 실제의 간극을 발견 즉시 바로잡은 한 주</a:t>
            </a:r>
            <a:endParaRPr lang="en-US" sz="165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3886200"/>
            <a:ext cx="944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실측 없이는 몰랐을 것들 — 카메라 기종, USB 인식 속도, depth 근접 사각지대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174236" y="4434840"/>
            <a:ext cx="3840480" cy="502920"/>
          </a:xfrm>
          <a:prstGeom prst="roundRect">
            <a:avLst>
              <a:gd name="adj" fmla="val 50909"/>
            </a:avLst>
          </a:prstGeom>
          <a:solidFill>
            <a:srgbClr val="12655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174236" y="44348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4주차 발표 · 하드웨어 검증 + 리스크 발견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603504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발표자: 기안 외 1인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목차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92024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 개발 환경 정비 · 데이터 수집 프로토콜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274320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74320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 4주차 게이트 측정 결과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356616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56616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 발견한 설계 리스크: depth 근접 사각지대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38912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438912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 선행 논문 데이터로 파이프라인 사전 검증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172200" y="192024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0" y="192024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 다음 주(5주차) 계획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172200" y="274320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0" y="274320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 6~10주차 구현 로드맵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172200" y="356616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0" y="356616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 11~15주차 논문·발표 마무리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4406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지난주(3주차)는 알고리즘 비교 연구조사로 대체 진행 — 그만큼 밀린 캘리브레이션·게이트가 이번 주로 이월됐습니다.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&amp; PROTOCOL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 환경 정비 · 데이터 수집 프로토콜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카메라 도착 전(9/27~28)까지 카메라 없이 할 수 있는 소프트웨어 작업을 먼저 끝내뒀습니다.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534924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468880"/>
            <a:ext cx="594360" cy="59436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934" y="2623414"/>
            <a:ext cx="285293" cy="28529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45920" y="251460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 환경 정비</a:t>
            </a:r>
            <a:endParaRPr lang="en-US" sz="155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3291840"/>
            <a:ext cx="4709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git 저장소 초기화, GitHub 원격 연결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단일 파일이던 MoveNet 코드를 pose/features/capture/logic 4개 패키지로 분리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합성 좌표 데이터 기반 단위테스트 도입 — 카메라·모델 없이도 로직 검증 가능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MoveNet은 COCO 17개 키포인트를 전부 출력하지만, 실제 특징 계산은 코·양어깨·양엉덩이 등 상반신 5개만 사용 — 책상 카메라 특성상 무릎 이하는 프레임 밖이라 처음부터 미사용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스켈레톤(관절 연결선) 코드는 외부 저장소를 그대로 가져온 게 아니라, TensorFlow 공식 MoveNet 튜토리얼이 정의한 표준 COCO-17 연결 방식을 직접 구현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94560"/>
            <a:ext cx="534924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</p:spPr>
      </p:sp>
      <p:sp>
        <p:nvSpPr>
          <p:cNvPr id="11" name="Shape 8"/>
          <p:cNvSpPr/>
          <p:nvPr/>
        </p:nvSpPr>
        <p:spPr>
          <a:xfrm>
            <a:off x="6473952" y="2468880"/>
            <a:ext cx="594360" cy="59436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8486" y="262341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205472" y="251460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수집 프로토콜 문서화</a:t>
            </a:r>
            <a:endParaRPr lang="en-US" sz="1550" dirty="0"/>
          </a:p>
        </p:txBody>
      </p:sp>
      <p:sp>
        <p:nvSpPr>
          <p:cNvPr id="14" name="Text 10"/>
          <p:cNvSpPr txBox="1"/>
          <p:nvPr/>
        </p:nvSpPr>
        <p:spPr>
          <a:xfrm>
            <a:off x="6519672" y="3291840"/>
            <a:ext cx="4709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왜: 촬영 조건이 한쪽으로 치우치면 실제 사용 환경에서 정확도가 떨어지고, 한 사람만 라벨링하면 결과를 신뢰하기 어려움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어떻게: 자세 5종 정의 후 참가자·샷수 목표 설정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날짜·조명·복장을 분산해 촬영 조건 다양화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팀원 2인 교차 라벨링 — 10~20% 샘플 독립 재라벨링으로 일치도 확인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RESULTS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4주차 게이트 측정 결과</a:t>
            </a:r>
            <a:endParaRPr lang="en-US" sz="2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6949440" cy="2743200"/>
        </p:xfrm>
        <a:graphic>
          <a:graphicData uri="http://schemas.openxmlformats.org/drawingml/2006/table">
            <a:tbl>
              <a:tblPr/>
              <a:tblGrid>
                <a:gridCol w="2743200"/>
                <a:gridCol w="2377440"/>
                <a:gridCol w="1828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항목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측정값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목표치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평균 fps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29.43 fps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최소 5 (목표 8~10)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평균 프레임 간격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33.4 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최대 프레임 간격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34.2 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스파이크(67ms 초과)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거리 유효 측정 시작점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약 40cm~ (정성 확인)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457200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측정 도구: src/capture/realsense_capture.py — gate 모드(30초 자동 측정), view 모드(줄자 대조 거리 확인)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7909560" y="1691640"/>
            <a:ext cx="3639312" cy="3977640"/>
          </a:xfrm>
          <a:prstGeom prst="roundRect">
            <a:avLst>
              <a:gd name="adj" fmla="val 3015"/>
            </a:avLst>
          </a:prstGeom>
          <a:solidFill>
            <a:srgbClr val="12655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09560" y="2011680"/>
            <a:ext cx="3639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2FE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29.43</a:t>
            </a:r>
            <a:endParaRPr lang="en-US" sz="5600" dirty="0"/>
          </a:p>
        </p:txBody>
      </p:sp>
      <p:sp>
        <p:nvSpPr>
          <p:cNvPr id="8" name="Text 5"/>
          <p:cNvSpPr txBox="1"/>
          <p:nvPr/>
        </p:nvSpPr>
        <p:spPr>
          <a:xfrm>
            <a:off x="7909560" y="2971800"/>
            <a:ext cx="3639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 (평균)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3364992"/>
            <a:ext cx="3182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C9F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목표(최소 5fps) 대비 약 5.9배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9253728" y="3794760"/>
            <a:ext cx="950976" cy="310896"/>
          </a:xfrm>
          <a:prstGeom prst="roundRect">
            <a:avLst>
              <a:gd name="adj" fmla="val 50000"/>
            </a:avLst>
          </a:prstGeom>
          <a:solidFill>
            <a:srgbClr val="12432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253728" y="3794760"/>
            <a:ext cx="950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D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게이트 통과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138160" y="4343400"/>
            <a:ext cx="3182112" cy="1188720"/>
          </a:xfrm>
          <a:prstGeom prst="roundRect">
            <a:avLst>
              <a:gd name="adj" fmla="val 7692"/>
            </a:avLst>
          </a:prstGeom>
          <a:solidFill>
            <a:srgbClr val="0E2A2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321040" y="4453128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주의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321040" y="4727448"/>
            <a:ext cx="28163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카메라 캡처 단독 수치 — MoveNet 추론 통합 후 재측정 필요. 거리 정밀 오차값은 줄자 미확보로 다음 주로 이월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RISK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발견한 설계 리스크: depth 근접 사각지대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08792" cy="1554480"/>
          </a:xfrm>
          <a:prstGeom prst="roundRect">
            <a:avLst>
              <a:gd name="adj" fmla="val 7059"/>
            </a:avLst>
          </a:prstGeom>
          <a:solidFill>
            <a:srgbClr val="3A2A22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828800"/>
            <a:ext cx="640080" cy="640080"/>
          </a:xfrm>
          <a:prstGeom prst="ellipse">
            <a:avLst/>
          </a:prstGeom>
          <a:solidFill>
            <a:srgbClr val="5A2E1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19952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178308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D455 depth는 약 40cm 미만에서 무효값을 반환한다 — 그런데 저희가 감지하려는 상황 "화면에 너무 가까워짐"이 하필 이 무효 구간과 겹친다. 정작 감지하고 싶은 순간에 센서가 먹통이 되는 셈.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3429000"/>
            <a:ext cx="534924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9" name="Shape 6"/>
          <p:cNvSpPr/>
          <p:nvPr/>
        </p:nvSpPr>
        <p:spPr>
          <a:xfrm>
            <a:off x="914400" y="370332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046" y="384596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600200" y="374904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완화 방안: 이중화 판정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914400" y="4480560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유효 구간(40cm~)은 정확한 거리값을 그대로 사용. 그 이하 근접 구간은 RGB 화면 속 얼굴·어깨 면적 비율로 "더 가까워짐"만 이분류 판정.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199632" y="3429000"/>
            <a:ext cx="534924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14" name="Shape 10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598" y="3845966"/>
            <a:ext cx="263347" cy="26334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159752" y="374904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 연구와의 접점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473952" y="4480560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방법은 WRF 논문(3주차 조사)이 깊이 카메라 없이 쓰던 방식과 동일한 아이디어 — 선행 연구의 한계를 우리 설계의 보완책으로 재활용.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640080" y="6172200"/>
            <a:ext cx="3054096" cy="310896"/>
          </a:xfrm>
          <a:prstGeom prst="roundRect">
            <a:avLst>
              <a:gd name="adj" fmla="val 50000"/>
            </a:avLst>
          </a:prstGeom>
          <a:solidFill>
            <a:srgbClr val="3A2A2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640080" y="6172200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구현 전 — 5주차 필터 튜닝과 함께 진행 예정</a:t>
            </a:r>
            <a:endParaRPr lang="en-US" sz="1050" dirty="0"/>
          </a:p>
        </p:txBody>
      </p:sp>
      <p:sp>
        <p:nvSpPr>
          <p:cNvPr id="20" name="Text 15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PRE-VALIDATION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 논문 데이터로 파이프라인 사전 검증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아직 우리 자세 데이터가 없어서, 6주차부터 쓸 학습 파이프라인 코드가 실제로 동작하는지 먼저 확인했습니다.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3886200"/>
          </a:xfrm>
          <a:prstGeom prst="roundRect">
            <a:avLst>
              <a:gd name="adj" fmla="val 2824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42316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046" y="2565806"/>
            <a:ext cx="263347" cy="26334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24688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WRF 논문 공개 데이터 검증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063240"/>
          <a:ext cx="4800600" cy="1051560"/>
        </p:xfrm>
        <a:graphic>
          <a:graphicData uri="http://schemas.openxmlformats.org/drawingml/2006/table">
            <a:tbl>
              <a:tblPr/>
              <a:tblGrid>
                <a:gridCol w="2057400"/>
                <a:gridCol w="1371600"/>
                <a:gridCol w="1371600"/>
              </a:tblGrid>
              <a:tr h="350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우리 재현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논문 보고치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 (가중치 없음)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WRF (가중치 적용)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914400" y="425196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변수 중요도 순서도 논문 Table과 일치 — 파이프라인이 논문 방식대로 정상 동작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914400" y="4846320"/>
            <a:ext cx="3369564" cy="310896"/>
          </a:xfrm>
          <a:prstGeom prst="roundRect">
            <a:avLst>
              <a:gd name="adj" fmla="val 50000"/>
            </a:avLst>
          </a:prstGeom>
          <a:solidFill>
            <a:srgbClr val="3A2A2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914400" y="4846320"/>
            <a:ext cx="33695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정확도 수치는 다른 특징공간 — 우리 성능 예측 아님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6199632" y="2148840"/>
            <a:ext cx="5349240" cy="3886200"/>
          </a:xfrm>
          <a:prstGeom prst="roundRect">
            <a:avLst>
              <a:gd name="adj" fmla="val 2824"/>
            </a:avLst>
          </a:prstGeom>
          <a:solidFill>
            <a:srgbClr val="FFFFFF"/>
          </a:solidFill>
          <a:ln/>
        </p:spPr>
      </p:sp>
      <p:sp>
        <p:nvSpPr>
          <p:cNvPr id="14" name="Shape 10"/>
          <p:cNvSpPr/>
          <p:nvPr/>
        </p:nvSpPr>
        <p:spPr>
          <a:xfrm>
            <a:off x="6473952" y="242316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598" y="2565806"/>
            <a:ext cx="263347" cy="26334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159752" y="24688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 기준모델 학습 스켈레톤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473952" y="3063240"/>
            <a:ext cx="4800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우리 프로젝트 특징(neck_tilt_deg 등) 기준으로 재구성</a:t>
            </a:r>
            <a:endParaRPr lang="en-US" sz="1150" dirty="0"/>
          </a:p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합성 keypoint 5클래스 생성 → 좌우반전+jitter 증강 → RF 학습·평가</a:t>
            </a:r>
            <a:endParaRPr lang="en-US" sz="1150" dirty="0"/>
          </a:p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단위테스트 5종 추가, 로컬 환경에서도 재현 확인 (전체 테스트 10개 통과)</a:t>
            </a:r>
            <a:endParaRPr lang="en-US" sz="1150" dirty="0"/>
          </a:p>
        </p:txBody>
      </p:sp>
      <p:sp>
        <p:nvSpPr>
          <p:cNvPr id="18" name="Text 13"/>
          <p:cNvSpPr txBox="1"/>
          <p:nvPr/>
        </p:nvSpPr>
        <p:spPr>
          <a:xfrm>
            <a:off x="6473952" y="46177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5주차 실데이터 수집 후 데이터 로딩 부분만 교체해 재사용 예정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473952" y="5074920"/>
            <a:ext cx="2528316" cy="310896"/>
          </a:xfrm>
          <a:prstGeom prst="roundRect">
            <a:avLst>
              <a:gd name="adj" fmla="val 50000"/>
            </a:avLst>
          </a:prstGeom>
          <a:solidFill>
            <a:srgbClr val="3A2A22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6473952" y="5074920"/>
            <a:ext cx="25283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합성 데이터 — 정확도 수치 의미 없음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마무리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20240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3736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4주차 게이트 통과 — 평균 29.43fps, 스파이크 0회, 목표치(최소 5fps) 대폭 상회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578608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822960" y="2761488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27614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257860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계획(oCamS)과 실제(D455)가 다르다는 걸 발견 즉시 문서 전체를 바로잡음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419856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822960" y="3602736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360273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3419856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측정 중 depth 근접 사각지대 리스크를 발견해 해결책 없이 넘기지 않고 문서화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261104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822960" y="4443984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44439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261104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실데이터 없이도 RF/WRF 학습 파이프라인이 정상 동작함을 미리 검증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5102352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12655A"/>
          </a:solidFill>
          <a:ln/>
        </p:spPr>
      </p:sp>
      <p:sp>
        <p:nvSpPr>
          <p:cNvPr id="21" name="Shape 19"/>
          <p:cNvSpPr/>
          <p:nvPr/>
        </p:nvSpPr>
        <p:spPr>
          <a:xfrm>
            <a:off x="822960" y="5285232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0E534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2960" y="528523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남음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417320" y="5102352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거리 정밀 오차 측정, 근접 사각지대 실제 구현, 논문 Introduction/Related Work 초안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 주(5주차) 계획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20240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3736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RealSense depth 프리셋·필터 튜닝, 줄자 확보해 거리 정확도 정밀 재검증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578608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822960" y="2761488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27614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257860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근접 사각지대 보완 — 얼굴·어깨 면적비 기반 근접 판정 실제 구현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419856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822960" y="3602736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360273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3419856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판정 로직과 스테레오+포즈 파이프라인 1차 통합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261104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822960" y="4443984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44439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261104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수집 프로토콜에 따라 실제 촬영 착수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40080" y="5102352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822960" y="5285232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2960" y="528523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417320" y="5102352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논문 Introduction · Related Work 초안 (이번 주 이월분)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ROADMAP: WEEKS 6-10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6~10주차 구현 로드맵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20240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3736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수집·라벨링 마무리, SQLite 저장 계층 구현, RF 기준모델 학습(Feature Selection·Weighting)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578608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822960" y="2761488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27614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257860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XGBoost·LightGBM을 RF와 동일 데이터·특징으로 공정 비교해 최종 분류기 선정, PyInstaller 패키징 사전 점검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419856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822960" y="3602736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360273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3419856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분류기를 판정 로직에 통합, TTS 알림 연동, 백그라운드 경량화(TFLite 스레드 제한·우선순위 조정)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261104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822960" y="4443984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44439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261104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백그라운드 최적화 마무리, 일간·주간 리포트 집계 + 이메일 전송 구현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5102352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822960" y="5285232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2960" y="528523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417320" y="5102352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통합, 종합 성능 평가, (여유 시) 트레이 아이콘·설정창 포함 exe 패키징 완성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03504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논문 초안은 4주차부터 구현과 병행 작성 중 — 이 기간 동안 Methodology·Results 섹션을 함께 채워나갑니다(다음 슬라이드 참고).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ROADMAP: WEEKS 11-15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11~15주차 논문·발표 마무리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20240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3736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4주차부터 병행 작성해온 논문 구조 확정, 전체 초안 리비전 착수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578608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822960" y="2761488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27614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257860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리비전 계속, 팀원 간 교차검토(결과 섹션 중심)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419856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822960" y="3602736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360273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3419856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리비전, Multimedia Systems 저널 포맷팅, 논문 전체 리허설 발표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261104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822960" y="4443984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44439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261104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논문 드래프트 제출(12/2 마감), 제출 후 정리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5102352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822960" y="5285232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2960" y="528523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417320" y="5102352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캡스톤 최종 발표 — 제출한 논문 내용을 발표용으로 재구성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08076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이상으로 4주차 발표를 마치겠습니다. 질문 받겠습니다.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2026-09-30T03:19:43Z</dcterms:created>
  <dcterms:modified xsi:type="dcterms:W3CDTF">2026-09-30T03:19:43Z</dcterms:modified>
</cp:coreProperties>
</file>