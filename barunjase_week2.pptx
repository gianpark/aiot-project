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685800"/>
            <a:ext cx="1005840" cy="10058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94731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196596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5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임베디드소프트웨어학과 · 캡스톤 프로젝트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2377440"/>
            <a:ext cx="10360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바른자세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3429000"/>
            <a:ext cx="10360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듀얼캠 기반 책상 자세 · 디지털 디톡스 모니터링 앱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10360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spc="1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교수님 피드백 반영 — 전면 아키텍처 개편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539996" y="4370832"/>
            <a:ext cx="3108960" cy="502920"/>
          </a:xfrm>
          <a:prstGeom prst="roundRect">
            <a:avLst>
              <a:gd name="adj" fmla="val 50909"/>
            </a:avLst>
          </a:prstGeom>
          <a:solidFill>
            <a:srgbClr val="12655A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39996" y="437083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2주차 발표 · 2026.09.13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발표자: 기안 외 1인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60020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피드백 반영 방향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258568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5856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연구 목표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16936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291693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시스템 구성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575304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5753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시스템 구성 요소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33672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233672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관련 기술·연구 요약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9204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68680" y="489204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AI 자세 분류 파이프라인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72200" y="1600200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0" y="1600200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 예산 계획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72200" y="2258568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0" y="2258568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 연구 개발 일정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72200" y="2916936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2916936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 리스크 및 완화 전략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172200" y="3575304"/>
            <a:ext cx="5074920" cy="512064"/>
          </a:xfrm>
          <a:prstGeom prst="roundRect">
            <a:avLst>
              <a:gd name="adj" fmla="val 17857"/>
            </a:avLst>
          </a:prstGeom>
          <a:solidFill>
            <a:srgbClr val="12655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00800" y="3575304"/>
            <a:ext cx="4709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 참고문헌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RESPONSE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피드백 반영 방향: 전면 피벗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 가지 피드백을 모두 반영해, 하드웨어 구성 자체를 데스크톱 앱 구조로 전면 전환했다.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40280"/>
          <a:ext cx="10908792" cy="3703320"/>
        </p:xfrm>
        <a:graphic>
          <a:graphicData uri="http://schemas.openxmlformats.org/drawingml/2006/table">
            <a:tbl>
              <a:tblPr/>
              <a:tblGrid>
                <a:gridCol w="2194560"/>
                <a:gridCol w="4352544"/>
                <a:gridCol w="4361688"/>
              </a:tblGrid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(1주차)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(2주차)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컴퓨팅 장치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라즈베리파이5 (2GB)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사용자 노트북/데스크톱 (별도 보드 없음)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거리 감지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HC-SR04P 초음파 센서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듀얼 웹캠 스테레오 매칭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카메라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보유 카메라 1대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스테레오 카메라 모듈 신규 구매 (oCamS-1CGN-U)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알림 방식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MQTT로 노트북에 전송 후 TTS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같은 프로세스 내에서 즉시 TTS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예산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6B7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149,500원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26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289,300원 (한도 대비 139,300원 초과)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OBJECTIVE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목표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10908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듀얼 웹캠 기반 스테레오 거리 추정과 자세 추정을 결합해 거북목·화면 근접·장시간 사용을 실시간으로 감지하고, 즉각적인 음성 피드백과 장기적인 디지털 디톡스 리포트로 이어지는 경량 데스크톱 백그라운드 애플리케이션을 구현한다.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333756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503981"/>
            <a:ext cx="307238" cy="30723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1440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정확한 3단계 판정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4572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자세를 정상/주의/경고로 분류하고, 규칙 기반과 학습 기반 분류기의 성능을 비교한다.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429000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3703320" y="333756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741" y="350398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70332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즉각적인 개입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703320" y="4572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화면 근접·나쁜 자세 지속 시 같은 기기에서 바로 TTS 음성 알림을 재생한다.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17920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6492240" y="333756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3503981"/>
            <a:ext cx="307238" cy="30723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9224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장기적인 습관 개선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6492240" y="4572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이력과 화면 사용시간을 누적해 디지털 디톡스 리포트를 제공한다.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06840" y="3063240"/>
            <a:ext cx="2514600" cy="260604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9281160" y="3337560"/>
            <a:ext cx="640080" cy="64008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47581" y="3503981"/>
            <a:ext cx="307238" cy="30723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281160" y="411480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 백그라운드 구동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9281160" y="4572000"/>
            <a:ext cx="1965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 등 다른 작업과 동시에 실행돼도 성능에 영향이 없도록 리소스 사용을 최소화한다.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383280"/>
            <a:ext cx="19202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B1A2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58368" y="3456432"/>
            <a:ext cx="1700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스테레오 카메라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58368" y="3767328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oCamS-1CGN-U (좌·우 렌즈 동기화)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278892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E9FBF7"/>
          </a:solidFill>
          <a:ln w="19050">
            <a:solidFill>
              <a:srgbClr val="0B1A2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55848" y="2862072"/>
            <a:ext cx="2889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/ 데스크톱 앱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55848" y="3172968"/>
            <a:ext cx="288950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스테레오 매칭 → 거리 추정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 Lightning 자세추정</a:t>
            </a:r>
            <a:endParaRPr lang="en-US" sz="10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로직 + 백그라운드 경량 프로세스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223760" y="21031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B1A2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33488" y="217627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TTS 즉시 알림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333488" y="2487168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프로세스에서 내장 스피커로 재생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23760" y="402336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9050">
            <a:solidFill>
              <a:srgbClr val="0B1A2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33488" y="4096512"/>
            <a:ext cx="2112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디톡스 리포트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333488" y="4407408"/>
            <a:ext cx="2112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450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로컬 저장 + 로컬 대시보드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468880" y="3840480"/>
            <a:ext cx="777240" cy="914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514600" y="3529584"/>
            <a:ext cx="685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좌·우 프레임</a:t>
            </a:r>
            <a:endParaRPr lang="en-US" sz="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(USB 3.0)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 flipV="1">
            <a:off x="6355080" y="2651760"/>
            <a:ext cx="868680" cy="914400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6080760" y="23591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결과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3840480"/>
            <a:ext cx="868680" cy="731520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080760" y="35478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판정 이력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580644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영상 프레임은 저장하지 않고 좌표·거리값만 실시간 처리 후 폐기한다 — 모든 처리가 한 기기 안에서 끝나 별도 서버나 클라우드로 전송되지 않는다.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 요소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554480" y="2194560"/>
            <a:ext cx="731520" cy="73152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4675" y="23847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77240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스테레오 카메라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oCamS-1CGN-U 1대, 좌·우 렌즈 동기화 캡처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56432" y="19202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4370832" y="2194560"/>
            <a:ext cx="731520" cy="73152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027" y="238475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593592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베이스라인 고정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593592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120mm 고정 하드웨어 베이스라인 — 별도 거치대 제작 불필요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72784" y="19202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15" name="Shape 11"/>
          <p:cNvSpPr/>
          <p:nvPr/>
        </p:nvSpPr>
        <p:spPr>
          <a:xfrm>
            <a:off x="7187184" y="2194560"/>
            <a:ext cx="731520" cy="73152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7379" y="238475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09944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/ 데스크톱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409944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별도 보드 없이 사용자 PC에서 전부 처리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089136" y="1920240"/>
            <a:ext cx="256032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/>
        </p:spPr>
      </p:sp>
      <p:sp>
        <p:nvSpPr>
          <p:cNvPr id="20" name="Shape 15"/>
          <p:cNvSpPr/>
          <p:nvPr/>
        </p:nvSpPr>
        <p:spPr>
          <a:xfrm>
            <a:off x="10003536" y="2194560"/>
            <a:ext cx="731520" cy="73152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93731" y="2384755"/>
            <a:ext cx="351130" cy="35113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226296" y="31089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경량 백그라운드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9226296" y="36118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낮은 프로세스 우선순위 + 샘플링 주기 조절로 게임 등과 동시구동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640080" y="45720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예산 289,300원 (스테레오 카메라 모듈 신규 구매) — 상세 내역은 예산 계획 슬라이드 참고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 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기술·연구 요약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37360"/>
            <a:ext cx="5303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자세 추정 모델</a:t>
            </a:r>
            <a:endParaRPr lang="en-US" sz="1500" dirty="0"/>
          </a:p>
          <a:p>
            <a:pPr indent="0" marL="0">
              <a:lnSpc>
                <a:spcPct val="125000"/>
              </a:lnSpc>
              <a:spcAft>
                <a:spcPts val="1800"/>
              </a:spcAft>
              <a:buNone/>
            </a:pPr>
            <a:r>
              <a:rPr lang="en-US" sz="13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MoveNet Lightning(TFLite, Apache-2.0) 채택 — COCO 17-keypoint 출력이라 각도 기반 판정 로직은 모델 선택과 무관하게 재사용 가능. 구동 환경이 노트북 CPU로 바뀌며 더 높은 성능이 예상되어 3주차에 재측정한다.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인체공학 평가 기준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RULA(Rapid Upper Limb Assessment)의 목·몸통·어깨 각도 점수화 기준을 정상/주의/경고 판정의 객관적 앵커로 사용한다.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172200" y="173736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앱·연구 대비 차별점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웹캠 AI 앱(SitApp·Posturr): 카메라 1대 휴리스틱 거리 추정, 상관관계 분석 없음 → 듀얼캠 스테레오 매칭 + 디지털 디톡스 리포트로 보완</a:t>
            </a:r>
            <a:endParaRPr lang="en-US" sz="15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웨어러블(Upright GO): 착용 부담 → 비접촉 상시 모니터링으로 대체</a:t>
            </a:r>
            <a:endParaRPr lang="en-US" sz="15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PoseTrack(2025, 라즈베리파이+MediaPipe): Firebase 클라우드 저장 → 노트북 한 대에서 완전 로컬 완결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PIPELINE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자세 분류 파이프라인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키포인트 정규화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엉덩이 중심 이동 + 어깨너비 스케일링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06040" y="3511296"/>
            <a:ext cx="146304" cy="914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752344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889504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2889504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각도 특징 추출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889504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목-어깨-엉덩이 각도 등 6~10개 특징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18304" y="3511296"/>
            <a:ext cx="146304" cy="914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64608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01768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5001768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라벨링 (RULA 기준)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01768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정상/주의/경고 + 교차 라벨링 검증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30568" y="3511296"/>
            <a:ext cx="146304" cy="914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976872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114032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26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7114032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6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증강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114032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3C4A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좌우 반전, 키포인트 jitter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42832" y="3511296"/>
            <a:ext cx="146304" cy="9144"/>
          </a:xfrm>
          <a:prstGeom prst="line">
            <a:avLst/>
          </a:prstGeom>
          <a:noFill/>
          <a:ln w="25400">
            <a:solidFill>
              <a:srgbClr val="2FE0C4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89136" y="2286000"/>
            <a:ext cx="1965960" cy="2468880"/>
          </a:xfrm>
          <a:prstGeom prst="roundRect">
            <a:avLst>
              <a:gd name="adj" fmla="val 4651"/>
            </a:avLst>
          </a:prstGeom>
          <a:solidFill>
            <a:srgbClr val="12655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26296" y="24231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E0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226296" y="297180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분류기 학습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226296" y="365760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랜덤포레스트 vs 임계값 규칙 비교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5166360"/>
            <a:ext cx="109087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거리(스테레오 매칭 기반) 판정은 분류기에 포함하지 않고, 별도 임계값 규칙으로 판정 후 자세 판정 결과와 논리적으로 결합(OR)한다. 백그라운드 구동 시에는 샘플링 주기를 5초로 낮춰 리소스 사용을 최소화한다.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계획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7680960" cy="4114800"/>
        </p:xfrm>
        <a:graphic>
          <a:graphicData uri="http://schemas.openxmlformats.org/drawingml/2006/table">
            <a:tbl>
              <a:tblPr/>
              <a:tblGrid>
                <a:gridCol w="4754880"/>
                <a:gridCol w="1188720"/>
                <a:gridCol w="1737360"/>
              </a:tblGrid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부품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스테레오 카메라 (oCamS-1CGN-U)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289,300원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노트북 / 데스크톱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보유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289,300원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737360"/>
            <a:ext cx="2862072" cy="4114800"/>
          </a:xfrm>
          <a:prstGeom prst="roundRect">
            <a:avLst>
              <a:gd name="adj" fmla="val 3834"/>
            </a:avLst>
          </a:prstGeom>
          <a:solidFill>
            <a:srgbClr val="12655A"/>
          </a:solidFill>
          <a:ln/>
        </p:spPr>
      </p:sp>
      <p:sp>
        <p:nvSpPr>
          <p:cNvPr id="6" name="Shape 3"/>
          <p:cNvSpPr/>
          <p:nvPr/>
        </p:nvSpPr>
        <p:spPr>
          <a:xfrm>
            <a:off x="9706356" y="2057400"/>
            <a:ext cx="822960" cy="822960"/>
          </a:xfrm>
          <a:prstGeom prst="ellipse">
            <a:avLst/>
          </a:prstGeom>
          <a:solidFill>
            <a:srgbClr val="0B1A2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0326" y="2271370"/>
            <a:ext cx="395021" cy="39502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778240" y="3063240"/>
            <a:ext cx="26791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289,300원</a:t>
            </a:r>
            <a:endParaRPr lang="en-US" sz="2200" dirty="0"/>
          </a:p>
        </p:txBody>
      </p:sp>
      <p:sp>
        <p:nvSpPr>
          <p:cNvPr id="9" name="Text 5"/>
          <p:cNvSpPr txBox="1"/>
          <p:nvPr/>
        </p:nvSpPr>
        <p:spPr>
          <a:xfrm>
            <a:off x="8778240" y="361188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한도 150,000원 대비 139,300원 초과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869680" y="4206240"/>
            <a:ext cx="249631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듀얼 웹캠 대비 캘리브레이션·마운트 제작 리스크를 줄이기 위해 하드웨어 스테레오 카메라로 전환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SCHEDULE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개발 일정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499104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072128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4645152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5218176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5791200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6364224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937248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7510272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8083296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8656320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9229344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9802368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0375392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10948416" y="1417320"/>
            <a:ext cx="573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926080" y="1069848"/>
            <a:ext cx="5730240" cy="4114800"/>
          </a:xfrm>
          <a:prstGeom prst="rect">
            <a:avLst/>
          </a:prstGeom>
          <a:solidFill>
            <a:srgbClr val="12655A">
              <a:alpha val="22000"/>
            </a:srgb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2926080" y="1069848"/>
            <a:ext cx="573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구현 (1~10주)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656320" y="1069848"/>
            <a:ext cx="2865120" cy="4114800"/>
          </a:xfrm>
          <a:prstGeom prst="rect">
            <a:avLst/>
          </a:prstGeom>
          <a:solidFill>
            <a:srgbClr val="E8734A">
              <a:alpha val="15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656320" y="1069848"/>
            <a:ext cx="286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(11~15주)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178308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관련 연구·설계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1856232"/>
            <a:ext cx="1091184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2350008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카메라 세팅·캘리브레이션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99104" y="2423160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48640" y="2916936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자세·거리 추정 개발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645152" y="2990088"/>
            <a:ext cx="2237232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3483864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통합 · 백그라운드 최적화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64224" y="3557016"/>
            <a:ext cx="1664208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48640" y="4050792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평가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510272" y="4123944"/>
            <a:ext cx="1091184" cy="347472"/>
          </a:xfrm>
          <a:prstGeom prst="roundRect">
            <a:avLst>
              <a:gd name="adj" fmla="val 13158"/>
            </a:avLst>
          </a:prstGeom>
          <a:solidFill>
            <a:srgbClr val="2FE0C4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548640" y="4617720"/>
            <a:ext cx="2240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논문 작성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83296" y="4690872"/>
            <a:ext cx="3383280" cy="347472"/>
          </a:xfrm>
          <a:prstGeom prst="roundRect">
            <a:avLst>
              <a:gd name="adj" fmla="val 13158"/>
            </a:avLst>
          </a:prstGeom>
          <a:solidFill>
            <a:srgbClr val="E8734A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MITIGATION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 및 완화 전략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00200"/>
          <a:ext cx="10908792" cy="4480560"/>
        </p:xfrm>
        <a:graphic>
          <a:graphicData uri="http://schemas.openxmlformats.org/drawingml/2006/table">
            <a:tbl>
              <a:tblPr/>
              <a:tblGrid>
                <a:gridCol w="3291840"/>
                <a:gridCol w="761695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EAF3F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완화 전략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655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스테레오 캘리브레이션 오차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체스보드 패턴 기반 표준 캘리브레이션 절차 수립, 주기적 재보정 옵션 제공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백그라운드 리소스 경합 (게임 등 동시 구동)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샘플링 주기 5초로 축소 + 낮은 프로세스 우선순위 + CPU 전용 경량 모델 유지로 프레임 드랍 최소화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자세 추정 정확도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카메라 위치·거리·스테레오 baseline 고정, 다양한 조건의 검증셋 구성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사생활 우려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영상 미저장, 좌표만 실시간 처리 후 폐기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알림 피로 · 논문 스코프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근접 즉시·자세 15초(연속 3회) 지속 시 알림 + 60초/5분 쿨다운, 사용시간-자세 상관관계 분석을 핵심 기여로 구성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 패키징 의존성 문제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6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7주차에 저사양 기기로 패키징 사전 점검, 트레이 아이콘 등 완성형은 10주차 스트레치로 분리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858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참고문헌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1090879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/ MoveNet Lightning — blog.tensorflow.org, 2021 (모델 자체 벤치마크, 구동 환경은 데스크톱 CPU로 변경)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Pose Landmarker — developers.google.com/mediapipe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RULA (Rapid Upper Limb Assessment) — 인체공학 상지 자세 평가 방법론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PoseTrack: 라즈베리파이+MediaPipe 기반 착석 자세 모니터링 연구 — arxiv.org/html/2508.11683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Stereo Camera Depth Estimation with OpenCV — learnopencv.com (스테레오 매칭·디스패리티 기반 거리 추정)</a:t>
            </a:r>
            <a:endParaRPr lang="en-US" sz="15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EA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pyttsx3 — 오프라인 로컬 TTS 파이썬 라이브러리, pypi.org/project/pyttsx3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11365992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2103120"/>
            <a:ext cx="1005840" cy="1005840"/>
          </a:xfrm>
          <a:prstGeom prst="ellipse">
            <a:avLst/>
          </a:prstGeom>
          <a:solidFill>
            <a:srgbClr val="12655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074" y="2364638"/>
            <a:ext cx="482803" cy="482803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329184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AF3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914400" y="411480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300" kern="0" dirty="0">
                <a:solidFill>
                  <a:srgbClr val="2FE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2026-09-12T07:42:16Z</dcterms:created>
  <dcterms:modified xsi:type="dcterms:W3CDTF">2026-09-12T07:42:16Z</dcterms:modified>
</cp:coreProperties>
</file>