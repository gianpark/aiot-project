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21792"/>
            <a:ext cx="1005840" cy="10058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883310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8745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임베디드소프트웨어학과 · 캡스톤 프로젝트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28600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 분류 알고리즘 비교 및 선정 근거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91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바른자세 · 3주차 발표 — 공통주제화에 따른 알고리즘 차별화 전략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8862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사양 대비 성능(execution spec vs. performance) 기준으로 Random Forest 선정 근거를 문헌으로 검증한다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57116" y="4434840"/>
            <a:ext cx="3474720" cy="502920"/>
          </a:xfrm>
          <a:prstGeom prst="roundRect">
            <a:avLst>
              <a:gd name="adj" fmla="val 50909"/>
            </a:avLst>
          </a:prstGeom>
          <a:solidFill>
            <a:srgbClr val="1265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57116" y="4434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발표 · 관련 논문 조사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기안 외 1인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문제 제기 · 차별화 전략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50592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50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프로젝트 구조 · 연구 목표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63824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16382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포즈 추정 모델 비교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77056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분류기 비교: 핵심 근거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59028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가장 가까운 선행 연구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7373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최신 관련 사례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2450592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450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RF·XGBoost·LightGBM 교차비교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163824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16382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MLP(딥러닝) 비교 후보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877056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8770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최종 연구 방향 · 결론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4590288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459028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참고문헌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제기: 왜 알고리즘으로 차별화해야 하는가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학기 다수 팀이 듀얼캠 기반 책상 자세 모니터링이라는 유사한 주제를 채택하면서, 하드웨어 구성만으로는 더 이상 차별화가 어려워졌다. 그래서 차별화 지점을 하드웨어에서 자세 추정 알고리즘 자체로 옮긴다.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514600" cy="27889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15468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3211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931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공통화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80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듀얼캠·책상 자세 모니터링이 다수 조의 공통 주제가 됨 — 하드웨어 구성만으로는 차별화 불가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2880360"/>
            <a:ext cx="2514600" cy="27889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703320" y="315468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741" y="33211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03320" y="3931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 지점 재설정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4480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"어떤 포즈 추정 모델 + 어떤 분류기를 쓰느냐"가 실사용성(백그라운드 상시 구동)을 가른다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880360"/>
            <a:ext cx="2514600" cy="27889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315468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33211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3931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4480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극대화가 아니라 "실행 사양 대비 성능" — 저사양 노트북에서 다른 작업과 동시 구동 가능한가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06840" y="2880360"/>
            <a:ext cx="2514600" cy="27889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315468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1" y="332110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3931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발표 목표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4480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논문을 조사해 Random Forest 선정 근거와 개선 방향 아이디어를 문헌으로 뒷받침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GOAL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구조와 연구 목표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44867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357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스테레오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88751" y="2263140"/>
            <a:ext cx="128016" cy="91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16767" y="1737360"/>
            <a:ext cx="144867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62487" y="1737360"/>
            <a:ext cx="1357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캘리브레이션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깊이 정보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65438" y="2263140"/>
            <a:ext cx="128016" cy="91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93454" y="1737360"/>
            <a:ext cx="144867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39174" y="1737360"/>
            <a:ext cx="1357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42125" y="2263140"/>
            <a:ext cx="128016" cy="91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70141" y="1737360"/>
            <a:ext cx="144867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15861" y="1737360"/>
            <a:ext cx="1357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17개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8811" y="2263140"/>
            <a:ext cx="128016" cy="91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6827" y="1737360"/>
            <a:ext cx="144867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2547" y="1737360"/>
            <a:ext cx="1357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추출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95498" y="2263140"/>
            <a:ext cx="128016" cy="91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23514" y="1737360"/>
            <a:ext cx="144867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69234" y="1737360"/>
            <a:ext cx="1357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72185" y="2263140"/>
            <a:ext cx="128016" cy="91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00201" y="1737360"/>
            <a:ext cx="1448671" cy="1051560"/>
          </a:xfrm>
          <a:prstGeom prst="roundRect">
            <a:avLst>
              <a:gd name="adj" fmla="val 6957"/>
            </a:avLst>
          </a:prstGeom>
          <a:solidFill>
            <a:srgbClr val="1265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45921" y="1737360"/>
            <a:ext cx="13572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정상/주의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/경고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6118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단순히 가장 정확한 알고리즘을 선택하는 것이 아니라, 기존 자세 분류 알고리즘을 적용한 뒤 성능과 연산 효율을 분석하고, 적절한 알고리즘을 개선하여 기존 모델과 개선 모델을 비교하는 것을 목표로 한다.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" y="49377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5080406"/>
            <a:ext cx="263347" cy="263347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36192" y="4873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MoveNet Lightning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536192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잠정 채택 — 17개 keypoint 기반 포즈 추정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34256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535424" y="49377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070" y="5080406"/>
            <a:ext cx="263347" cy="263347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230368" y="4873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5230368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관절 좌표·각도·거리 특징 분류에 잠정 채택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028432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37" name="Shape 33"/>
          <p:cNvSpPr/>
          <p:nvPr/>
        </p:nvSpPr>
        <p:spPr>
          <a:xfrm>
            <a:off x="8229600" y="4937760"/>
            <a:ext cx="548640" cy="5486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246" y="5080406"/>
            <a:ext cx="263347" cy="26334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924544" y="4873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조사의 역할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8924544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조합이 "저사양 노트북 백그라운드 상시 구동" 조건에 맞는지 문헌으로 검증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MODELS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포즈 추정 모델 비교: 정확도 vs 속도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675120" cy="2331720"/>
        </p:xfrm>
        <a:graphic>
          <a:graphicData uri="http://schemas.openxmlformats.org/drawingml/2006/table">
            <a:tbl>
              <a:tblPr/>
              <a:tblGrid>
                <a:gridCol w="2331720"/>
                <a:gridCol w="1508760"/>
                <a:gridCol w="1920240"/>
                <a:gridCol w="91440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1,000장 처리시간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Keypoint 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PoseNet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 (최고)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643.5초 (최장)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MoveNet Thunder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140.0초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MoveNet Lightning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53.5초 (최속)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160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Jo &amp; Kim, Traitement du Signal, 2022 (IIETA) — 원문 PDF 직접 확인 완료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834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Lightning은 OpenPose 대비 약 12배 빠르며, "사람이 없는 이미지"에서도 낮은 오탐률 유지 (3그룹 기준 71.5%로 하락하는 구간은 참고 필요)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35240" y="1737360"/>
            <a:ext cx="3913632" cy="4069080"/>
          </a:xfrm>
          <a:prstGeom prst="roundRect">
            <a:avLst>
              <a:gd name="adj" fmla="val 2804"/>
            </a:avLst>
          </a:prstGeom>
          <a:solidFill>
            <a:srgbClr val="1265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MoveNet Lightning을 고른 이유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423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 대비 처리 속도 (IIETA 2022)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3977640"/>
            <a:ext cx="502920" cy="502920"/>
          </a:xfrm>
          <a:prstGeom prst="ellipse">
            <a:avLst/>
          </a:prstGeom>
          <a:solidFill>
            <a:srgbClr val="0E4A4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599" y="41083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503920" y="3977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저사양 CPU에서 5초 주기 백그라운드 상시 구동에 적합한 속도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63840" y="4937760"/>
            <a:ext cx="502920" cy="502920"/>
          </a:xfrm>
          <a:prstGeom prst="ellipse">
            <a:avLst/>
          </a:prstGeom>
          <a:solidFill>
            <a:srgbClr val="0E4A4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599" y="50685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4937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등 성숙한 온디바이스 배포 생태계 — 사전학습 모델 바로 활용 가능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 비교: 핵심 근거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2514600"/>
          </a:xfrm>
          <a:prstGeom prst="roundRect">
            <a:avLst>
              <a:gd name="adj" fmla="val 4364"/>
            </a:avLst>
          </a:prstGeom>
          <a:solidFill>
            <a:srgbClr val="1265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64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Toward Real-Time Posture Classification: Reality Check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30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al., Electronics(MDPI), 2025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9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실시간 자세 분류에 값비싼 딥러닝이 정말 필요한지 CPU 단독 환경에서 검증하기 위해 고전 ML과 LSTM(딥러닝)의 속도·정확도를 비교한 논문 — 그 결과가 아래 수치다.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고전 ML(SVM·Gaussian NB·Random Forest·Neural Network)이 CPU 단독 비교에서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느린 고전 분류기(AdaBoost)조차 LSTM보다 약 20배 빠르면서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도, 최대 99% 정확도를 낼 수 있음을 원문(Table 4)으로 확인함.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이 논문의 속도 비교(Fig.10)에 RF는 직접 포함되지 않음 — "RF가 20배"가 아니라 "고전 ML 계열이 20배"로 정확히 인용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480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EAI (2021) — 관절 각도 특징 비교 (Kinect 관절각도 기반)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749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교차검증: SVM(RBF) 83.42% &gt; Logistic Reg. 80.91% &gt; RF 77.08% &gt; kNN 76.98% &gt; Naive Bayes 74.56%. RF는 중위권 — "RF가 항상 최고"라고 과장하지 않는다.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42976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4480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휠체어 압력센서 (Sensors, 2021) — 반대 양상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50749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압력센서 데이터 기준 RF 98.65% &gt; SVM 95.96%로 역전되지만 속도는 SVM 0.051초 &lt; RF 0.167초로 SVM이 더 빠르다 — 정확도·속도 우위는 데이터·모달리티마다 달라진다.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PRIOR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가까운 선행 연구: Weighted Random Forest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Lee, Choi, Kim, "Classification Algorithm for Sitting Postures Using Weighted Random Forest", IET Image Processing, 2025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입력 → 얼굴·어깨 좌표/각도 추출 → 특징 중요도 분석 → 특징별 가중치 적용 → Weighted Random Forest → 5가지 자세 분류(정상/숙임/기대기/좌우 기울임)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1265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착석 자세(정상/숙임/기대기/좌우 기울임) 분류 정확도·F1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04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61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없는 RF 96%→WRF 98% · 8개 분류기 중 최고, 최저 KNN(0.81) 대비 +0.17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029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포인트: 저자가 결론에서 직접 제안한 "후속 연구 방향 — depth-sensing camera로 3D 데이터 수집"이 바른자세의 스테레오 카메라 설계와 정확히 일치한다. "선행 연구가 미래 과제로 남긴 것을 우리는 구현했다"는 스토리로 활용.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논문 vs 우리 프로젝트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331720"/>
          <a:ext cx="5468112" cy="3749040"/>
        </p:xfrm>
        <a:graphic>
          <a:graphicData uri="http://schemas.openxmlformats.org/drawingml/2006/table">
            <a:tbl>
              <a:tblPr/>
              <a:tblGrid>
                <a:gridCol w="1371600"/>
                <a:gridCol w="2048256"/>
                <a:gridCol w="2048256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선행 논문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바른자세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카메라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전면 2D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스테레오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 추출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얼굴·어깨 중심 좌표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전신 17 Keypoint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차원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픽셀 좌표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좌표+Depth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개선 방식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Weighting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Selection+Weighting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+HP 최적화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오분류 원인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옷·배경색 유사, 얼굴 기울임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전신 특징+깊이로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원천적 완화 가설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RELATED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관련 사례: MoveNet 기반 자세 분류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Pawitra et al., "Automated ergonomic sitting postures detection for office workstation using XGBoost method", IAES Int. J. Artificial Intelligence, Vol.15 No.1, 2026.02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Thunder로 17개 keypoint 추출 → 상반신만 정규화 → AdaBoost / XGBoost / MLP 비교, 정상/비정상 2분류 (참가자 30명, 유효 인스턴스 1,550개).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아래 표: 정상/비정상 착석 자세 2분류 정확도·F1·ROC-AUC (참가자 30명 · 유효 인스턴스 1,550개, 10-fold 교차검증 평균)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10908792" cy="155448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554480"/>
                <a:gridCol w="2011680"/>
                <a:gridCol w="2862072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 ± 0.021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 ± 0.022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 ± 0.016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 ± 0.221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 ± 0.024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 ± 0.011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폴드 간 편차 매우 큼 — 불안정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 ± 0.019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 ± 0.019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 ± 0.010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최고 · 가장 안정적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4632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265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4983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우리에게 남겨진 갭: 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논문은 우리와 같은 MoveNet 계열(Thunder)을 실제 자세 분류에 쓴 2026년 최신 사례지만, 비교군에 Random Forest가 없다(AdaBoost/XGBoost/MLP만 비교).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여기에 RF/WRF를 추가로 비교하면 이 논문의 공백을 메우는 기여가 된다. 저자도 "상반신 키포인트만 사용, 시점·가림·조명에 민감"을 한계로 명시 — 전신 17키포인트+스테레오 깊이로 보완 가능하다는 가설 제시.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RF·XGBoost·LightGBM: 선행연구 교차비교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팀원이 조사한 3편을 표로 나란히 비교한다 — RF가 항상 1위는 아니므로 정직하게 비교한다.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242316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313432"/>
                <a:gridCol w="2377440"/>
                <a:gridCol w="237744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선행연구 입력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방법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결과/의의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프로젝트 적용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얼굴·어깨 좌표/각도/비율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변수중요도 기반 Weighted 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5개 자세 분류 RF 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기준모델 + Feature Selection·Weighting 개선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MoveNet 17 Keypoint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정규화·중심화 +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93.0%±1.9%, F1 92.9%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MoveNet 기반 구조 유사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 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16개 압력센서 수치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KNN·SVM·RF·DT·LightGBM 비교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모니터링 가능성 및 경량성 비교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정확도+추론시간+CPU·RAM 비교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526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WRF는 RF 계열이 가장 높고(0.98·1위), XGBoost 논문엔 애초 RF 비교군이 없으며, LightGBM 압력센서 사례는 LightGBM이 근소 우위(99.03%&gt;98.65%) — 논문마다 RF의 순위가 다르다.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10908792" cy="1188720"/>
          </a:xfrm>
          <a:prstGeom prst="roundRect">
            <a:avLst>
              <a:gd name="adj" fmla="val 9231"/>
            </a:avLst>
          </a:prstGeom>
          <a:solidFill>
            <a:srgbClr val="1265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2578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"RF가 절대적으로 가장 빠르고 정확하다"고 주장하지 않는다. 대신 RF 성능을 객관적으로 검증한 뒤,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데이터(MoveNet Keypoint+깊이)로 XGBoost·LightGBM과 직접 실측 비교해 최적화하는 것을 다음 단계 목표로 삼는다.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CANDIDATE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MLP(딥러닝) 비교 후보 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RF·XGBoost·LightGBM은 모두 트리 기반 ML — 팀원이 딥러닝 비교 축(MLP)을 추가 조사, 원문에서 수치까지 검증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1265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Check와 배치되지 않는 이유: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MLP는 LSTM과 달리 순환 구조가 없는 경량 피드포워드 신경망이다 (ConMLP 46.54M FLOPs vs GCN 2.5G FLOPs, Yoga MLP는 12→10→8→6의 초소형 구조) — "비싼 딥러닝은 불필요"라는 결론과 배치되지 않는다.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RF와 CPU 상에서 직접 비교한 검증은 아직 없어, 최종 모델로 미리 정하지 않고 RF·XGBoost·LightGBM과 동일 조건에서 공정 비교할 딥러닝 기준 모델로 추가한다.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090879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236976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369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363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Pose MLP (CIN, 2022)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1363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관절각도 12개 → MLP(은닉 10·8) → 요가자세 6종. 테스트 정확도 0.9958 (350개 인스턴스). 우리와 구조가 가장 유사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1090879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041648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0416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KeypointNet (Electronics, 2025)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9410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지역+전역 Keypoint 특징을 MLP로 결합해 분류. MVSP 98.46%/HASP 96.52%/MSRA 99.48%. MLP는 독립분류기가 아닌 구성요소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40080" y="4672584"/>
            <a:ext cx="1090879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846320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8463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7457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YOLOv8+Graph MLP (Discover AI, 2026)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7457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MLP 도입으로 추론시간 0.23초→0.08초, FPS 58→125로 개선. 향후 확장연구(Graph MLP/GCN) 방향의 근거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40080" y="5477256"/>
            <a:ext cx="1090879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65099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6509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5504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ConMLP (Sensors, 2023)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55504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MLP 자기지도학습으로 NTU RGB+D 96.9%, 46.54M FLOPs — GCN 계열(2.5G FLOPs)보다 훨씬 가벼움. 배경자료용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우리의 차별화 지점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Lightning은 정확도 1등은 아니지만(75%대) OpenPose 대비 12배 빠르고 저사양 환경에 적합 — 우리 시나리오(1인 고정)엔 속도가 더 중요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761488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7860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고전 ML(RF 포함 계열)은 LSTM 대비 CPU에서 약 20배 빠르면서 최대 99% 정확도 가능 — 딥러닝 없이도 충분한 실시간 성능 확보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602736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02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41985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RF 선행 연구가 남긴 "3D 깊이 카메라" 과제를 스테레오 카메라로 이미 구현 중 — 가장 가까운 선행 연구의 다음 단계를 우리가 실현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443984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9F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6110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Thunder+XGBoost 최신 사례(2026)에는 Random Forest 비교군이 없음 — 우리가 RF/WRF를 추가 비교하면 이 공백을 메우는 기여가 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12655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285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0E534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85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10235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바른자세의 조합은 "정확도 극대화"가 아니라 "저사양 노트북에서 다른 작업과 동시 구동 가능한 실용적 실시간 시스템"을 목표로 한 의도적 선택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3주차 게이트(카메라 캘리브레이션 + 노트북 CPU 기준 포즈 추정 성능 실측)에서 문헌상의 속도·정확도 수치를 우리 실제 환경에서 검증한다.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참고문헌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0078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078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9344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H.; Gračanin, D.; Zhou, W.; Dudash, D.; Rushton, G. "Toward Real-Time Posture Classification: Reality Check." Electronics 2025, 14, 1876.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5544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p.6, p.11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47802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4780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386584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J.; Choi, H.; Kim, J. "Classification Algorithm for Sitting Postures Using Weighted Random Forest." IET Image Processing 2025, 19, e70126.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2331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p.6, p.7, p.9, p.11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5526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163824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Jo, J.; Kim, Y. "Comparative Analysis of OpenPose, PoseNet, and MoveNet Models for Pose Estimation in Mobile Devices." Traitement du Signal 2022, 39(1), 119-124.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31089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p.5, p.11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3250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325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941064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Pawitra et al. "Automated ergonomic sitting postures detection for office workstation using XGBoost method." IAES Int. J. Artificial Intelligence 2026, 15(1), 506-514.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38862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p.8, p.9, p.11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80974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097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718304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"Comparing the Performance of Different Classifiers for Posture Detection." EAI, 2021.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10104120" y="46634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p.6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참고문헌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27632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J.; Sidén, J.; Andersson, H. "A Proposal of Implementation of Sitting Posture Monitoring System for Wheelchair Utilizing Machine Learning Methods." Sensors 2021, 21(19), 6349.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51760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517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23744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Thoutam, A. et al. "Yoga Pose Estimation and Feedback Generation Using Deep Learning." Computational Intelligence and Neuroscience 2022.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24505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346704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4787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47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19856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Cao, Z. et al. "KeypointNet: An Efficient Deep Learning Model with Multi-View Recognition Capability for Sitting Posture Recognition." Electronics 2025, 14(4), 718.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33467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242816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44398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4398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315968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Tian, D.; Liu, B. "Human posture recognition model integrating YOLOv8 pose and graph multilayer perceptron." Discover Artificial Intelligence 2026, 6, 1043.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4242816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p.10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5138928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340096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E9FB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400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212080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Dai, C. et al. "ConMLP: MLP-Based Self-Supervised Contrastive Learning for Skeleton Data Analysis and Action Recognition." Sensors 2023, 23(5), 2452.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10104120" y="513892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p.10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2026-09-22T16:55:36Z</dcterms:created>
  <dcterms:modified xsi:type="dcterms:W3CDTF">2026-09-22T16:55:36Z</dcterms:modified>
</cp:coreProperties>
</file>