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9473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임베디드소프트웨어학과 · 캡스톤 프로젝트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3774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바른자세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429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듀얼캠 기반 책상 자세 · 디지털 디톡스 모니터링 앱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39996" y="4251960"/>
            <a:ext cx="3108960" cy="502920"/>
          </a:xfrm>
          <a:prstGeom prst="roundRect">
            <a:avLst>
              <a:gd name="adj" fmla="val 50909"/>
            </a:avLst>
          </a:prstGeom>
          <a:solidFill>
            <a:srgbClr val="1265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39996" y="4251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 발표 · 2026.09.06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기안 외 1인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연구 배경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585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연구 목표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1693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1693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관련 기술 조사 — 자세 추정 모델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753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관련 연구 — 인체공학 평가법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33672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2336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관련 앱 사례 비교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8920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시스템 구성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60020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시스템 구성 요소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225856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2585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AI 자세 분류 파이프라인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291693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291693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예산 계획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357530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5753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연구 개발 일정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233672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2336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리스크 및 완화 전략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89204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48920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참고문헌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18320" y="1645920"/>
            <a:ext cx="1371600" cy="137160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36" y="20025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28800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장시간 책상 앞 작업·학습이 늘면서 거북목·구부정한 자세로 인한 근골격계 부담이 커지고 있다.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화면과 지나치게 가까운 거리에서의 장시간 사용은 눈의 피로·자세 악화를 동시에 유발한다.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자세 알림 앱·제품은 단발성 알림에 그치거나, 카메라 원본 영상을 그대로 저장해 사생활 우려가 있다.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"실시간 개입"과 "장기적 습관 데이터"를 함께 다루면서도 개인정보를 보호하는 시스템이 필요하다.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웹캠 기반 스테레오 거리 추정과 자세 추정을 결합해 거북목·화면 근접·장시간 사용을 실시간으로 감지하고, 즉각적인 음성 피드백과 장기적인 디지털 디톡스 리포트로 이어지는 경량 데스크톱 백그라운드 애플리케이션을 구현한다.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503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3단계 판정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자세를 정상/주의/경고로 분류하고, 규칙 기반과 학습 기반 분류기의 성능을 비교한다.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70332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741" y="3503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즉각적인 개입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근접·나쁜 자세 지속 시 같은 기기에서 바로 TTS 음성 알림을 재생한다.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3503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장기적인 습관 개선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이력과 화면 사용시간을 누적해 디지털 디톡스 리포트를 제공한다.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684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1" y="350398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백그라운드 구동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등 다른 작업과 동시에 실행돼도 성능에 영향이 없도록 리소스 사용을 최소화한다.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기술 조사 — 자세 추정 모델 비교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3017520"/>
        </p:xfrm>
        <a:graphic>
          <a:graphicData uri="http://schemas.openxmlformats.org/drawingml/2006/table">
            <a:tbl>
              <a:tblPr/>
              <a:tblGrid>
                <a:gridCol w="3383280"/>
                <a:gridCol w="2103120"/>
                <a:gridCol w="3593592"/>
                <a:gridCol w="182880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라이선스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참고 벤치마크(임베디드 기준)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MoveNet Lightning (TFLite)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RPi4 실측 186ms · RPi5 커뮤니티 실측 9~17fps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채택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YOLOv8n-pose (NCNN)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AGPL-3.0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RPi5 NCNN 640px 실측 약 6fps (최적화 전 1.5fps)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대안 검토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호환성 이슈 다수 보고 (arm64 wheel 부재는 최근 해결)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여유 시 시도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983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구동 환경을 라즈베리파이에서 노트북/데스크톱 CPU로 변경해 위 수치보다 훨씬 높은 성능이 예상되며, 3주차에 실제 환경 기준으로 재측정한다. 두 모델 모두 COCO 17-keypoint 포맷을 출력해 각도 기반 특징 추출·판정 로직은 모델 선택과 무관하게 재사용할 수 있다.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 — 인체공학 평가법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18320" y="1691640"/>
            <a:ext cx="1371600" cy="137160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36" y="20482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3736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 (Rapid Upper Limb Assessment)</a:t>
            </a:r>
            <a:endParaRPr lang="en-US" sz="155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목·몸통·어깨 각도를 점수화하는 인체공학 평가법으로, 본 프로젝트의 "정상/주의/경고" 판정 기준을 정의하는 객관적 앵커로 사용한다.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자세 모니터링 제품·연구의 한계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웹캠 기반 앱(SitApp, Posturr 등)은 온디바이스 처리·영상 미저장을 표방하지만 화면 사용시간과의 상관관계 분석은 제공하지 않고, Upright GO 같은 웨어러블은 착용 부담이 있다. 라즈베리파이+MediaPipe로 자세를 감지한 선행 연구(PoseTrack, 2025)도 있으나 클라우드(Firebase)에 데이터를 저장한다. 본 프로젝트는 좌표만 실시간 처리 후 폐기하고, 별도 서버·클라우드 전송 없이 한 기기 안에서 전부 처리해 리포트를 완결한다는 점에서 차별화된다.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앱 사례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842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AI 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00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SitApp · Posturr · BLiiNK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7063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26664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온디바이스 처리, 영상을 저장·업로드하지 않음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0050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 카메라 1대의 휴리스틱 방식으로만 거리를 추정, 사용시간-자세 상관관계 분석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937760"/>
            <a:ext cx="3145536" cy="914400"/>
          </a:xfrm>
          <a:prstGeom prst="roundRect">
            <a:avLst>
              <a:gd name="adj" fmla="val 8000"/>
            </a:avLst>
          </a:prstGeom>
          <a:solidFill>
            <a:srgbClr val="1265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501091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 적용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25780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듀얼캠 스테레오 매칭으로 삼각측량 기반의 더 정밀한 거리 추정 + 디지털 디톡스 리포트로 상관관계까지 분석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4256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62856" y="19842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62856" y="23500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Upright GO / GO2 / GO 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277063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3026664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신체 부착 센서로 정확한 진동 피드백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7490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40050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몸에 부착해야 하는 착용 부담, 탈부착 번거로움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17136" y="4937760"/>
            <a:ext cx="3145536" cy="914400"/>
          </a:xfrm>
          <a:prstGeom prst="roundRect">
            <a:avLst>
              <a:gd name="adj" fmla="val 8000"/>
            </a:avLst>
          </a:prstGeom>
          <a:solidFill>
            <a:srgbClr val="1265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54296" y="501091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 적용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525780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듀얼캠 조합으로 비접촉 상시 모니터링, 착용 없이도 책상 앞이면 자동 동작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28432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57032" y="19842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23500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PoseTrack (2025, 라즈베리파이+MediaPipe)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57032" y="277063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57032" y="3026664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 보드에서 로컬로 자세를 판정하는 구조가 검증됨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57032" y="37490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57032" y="40050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이력을 Firebase 클라우드에 저장, 신체 일부가 가려지면 정확도 급락(다리 꼬임 0%)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11312" y="4937760"/>
            <a:ext cx="3145536" cy="914400"/>
          </a:xfrm>
          <a:prstGeom prst="roundRect">
            <a:avLst>
              <a:gd name="adj" fmla="val 8000"/>
            </a:avLst>
          </a:prstGeom>
          <a:solidFill>
            <a:srgbClr val="1265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48472" y="501091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 적용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525780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보드·클라우드 없이 사용자 노트북 한 대에서 완결 + 카메라 위치·거리 고정으로 가림 문제 완화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0848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957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보유 카메라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2793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5902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보유 (동일 모델)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78892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E9FBF7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286207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/ 데스크톱 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3172968"/>
            <a:ext cx="2889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스테레오 매칭 → 거리 추정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 자세추정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로직 + 백그라운드 경량 프로세스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2103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3488" y="21762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즉시 알림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33488" y="248716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프로세스에서 내장 스피커로 재생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4023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33488" y="40965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디톡스 리포트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33488" y="440740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 + 로컬 대시보드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2468880"/>
            <a:ext cx="777240" cy="82296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194560" y="2176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flipV="1">
            <a:off x="2468880" y="4114800"/>
            <a:ext cx="777240" cy="54864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B (스테레오)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V="1">
            <a:off x="6355080" y="2651760"/>
            <a:ext cx="868680" cy="91440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080760" y="2359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결과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3840480"/>
            <a:ext cx="868680" cy="73152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080760" y="3547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이력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프레임은 저장하지 않고 좌표·거리값만 실시간 처리 후 폐기한다 — 모든 처리가 한 기기 안에서 끝나 별도 서버나 클라우드로 전송되지 않는다.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 요소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7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보유 카메라 재사용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370832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B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보유 동일 모델 카메라 (스테레오 페어)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87184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9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/ 데스크톱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보드 없이 사용자 PC에서 전부 처리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9136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03536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31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백그라운드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프로세스 우선순위 + 샘플링 주기 조절로 게임 등과 동시구동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예산 0원 (웹캠 2대 모두 기존 보유 장비 재사용) — 상세 내역은 다음 슬라이드 참고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자세 분류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키포인트 정규화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엉덩이 중심 이동 + 어깨너비 스케일링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52344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89504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각도 특징 추출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9504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목-어깨-엉덩이 각도 등 6~10개 특징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64608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1768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라벨링 (RULA 기준)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정상/주의/경고 + 교차 라벨링 검증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0568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76872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14032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증강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반전, 키포인트 jitter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42832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89136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265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6296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 학습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랜덤포레스트 vs 임계값 규칙 비교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1663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거리(스테레오 매칭 기반) 판정은 분류기에 포함하지 않고, 별도 임계값 규칙으로 판정 후 자세 판정 결과와 논리적으로 결합(OR)한다. 백그라운드 구동 시에는 샘플링 주기를 1~2초로 낮춰 리소스 사용을 최소화한다.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계획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680960" cy="4114800"/>
        </p:xfrm>
        <a:graphic>
          <a:graphicData uri="http://schemas.openxmlformats.org/drawingml/2006/table">
            <a:tbl>
              <a:tblPr/>
              <a:tblGrid>
                <a:gridCol w="4754880"/>
                <a:gridCol w="1188720"/>
                <a:gridCol w="1737360"/>
              </a:tblGrid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웹캠 A·B (동일 모델)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보유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노트북 / 데스크톱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보유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737360"/>
            <a:ext cx="2862072" cy="4114800"/>
          </a:xfrm>
          <a:prstGeom prst="roundRect">
            <a:avLst>
              <a:gd name="adj" fmla="val 3834"/>
            </a:avLst>
          </a:prstGeom>
          <a:solidFill>
            <a:srgbClr val="12655A"/>
          </a:solidFill>
          <a:ln/>
        </p:spPr>
      </p:sp>
      <p:sp>
        <p:nvSpPr>
          <p:cNvPr id="6" name="Shape 3"/>
          <p:cNvSpPr/>
          <p:nvPr/>
        </p:nvSpPr>
        <p:spPr>
          <a:xfrm>
            <a:off x="9706356" y="2057400"/>
            <a:ext cx="822960" cy="822960"/>
          </a:xfrm>
          <a:prstGeom prst="ellipse">
            <a:avLst/>
          </a:prstGeom>
          <a:solidFill>
            <a:srgbClr val="0B1A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326" y="2271370"/>
            <a:ext cx="395021" cy="3950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78240" y="306324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0원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36118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150,000원 전액 절감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4206240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여유 예산은 캘리브레이션용 체스보드 패턴 인쇄·카메라 마운트 등 소모품에 활용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개발 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499104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072128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45152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18176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91200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364224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937248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510272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83296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56320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29344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802368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375392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948416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1069848"/>
            <a:ext cx="5730240" cy="4114800"/>
          </a:xfrm>
          <a:prstGeom prst="rect">
            <a:avLst/>
          </a:prstGeom>
          <a:solidFill>
            <a:srgbClr val="12655A">
              <a:alpha val="22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26080" y="1069848"/>
            <a:ext cx="573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(1~10주)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56320" y="1069848"/>
            <a:ext cx="2865120" cy="4114800"/>
          </a:xfrm>
          <a:prstGeom prst="rect">
            <a:avLst/>
          </a:prstGeom>
          <a:solidFill>
            <a:srgbClr val="E8734A">
              <a:alpha val="1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56320" y="1069848"/>
            <a:ext cx="286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(11~15주)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78308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연구·설계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1856232"/>
            <a:ext cx="1091184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23500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세팅·캘리브레이션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99104" y="24231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291693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자세·거리 추정 개발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45152" y="2990088"/>
            <a:ext cx="2237232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48386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· 백그라운드 최적화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64224" y="3557016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05079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평가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10272" y="4123944"/>
            <a:ext cx="1091184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61772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작성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83296" y="4690872"/>
            <a:ext cx="3383280" cy="347472"/>
          </a:xfrm>
          <a:prstGeom prst="roundRect">
            <a:avLst>
              <a:gd name="adj" fmla="val 13158"/>
            </a:avLst>
          </a:prstGeom>
          <a:solidFill>
            <a:srgbClr val="E873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및 완화 전략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완화 전략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스테레오 캘리브레이션 오차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체스보드 패턴 기반 표준 캘리브레이션 절차 수립, 주기적 재보정 옵션 제공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백그라운드 리소스 경합 (게임 등 동시 구동)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샘플링 주기 1~2초로 축소 + 낮은 프로세스 우선순위 + CPU 전용 경량 모델 유지로 프레임 드랍 최소화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자세 추정 정확도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카메라 위치·거리·스테레오 baseline 고정, 다양한 조건의 검증셋 구성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사생활 우려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영상 미저장, 좌표만 실시간 처리 후 폐기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알림 피로 · 논문 스코프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근접 2초·자세 15초 지속 시 알림 + 60초/5분 쿨다운, 사용시간-자세 상관관계 분석을 핵심 기여로 구성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참고문헌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087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/ MoveNet Lightning — blog.tensorflow.org, 2021 (모델 자체 벤치마크, 구동 환경은 데스크톱 CPU로 변경)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 — developers.google.com/mediapipe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 (Rapid Upper Limb Assessment) — 인체공학 상지 자세 평가 방법론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PoseTrack: 라즈베리파이+MediaPipe 기반 착석 자세 모니터링 연구 — arxiv.org/html/2508.11683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Camera Depth Estimation with OpenCV — learnopencv.com (스테레오 매칭·디스패리티 기반 거리 추정)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— 오프라인 로컬 TTS 파이썬 라이브러리, pypi.org/project/pyttsx3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2103120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36463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2918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2026-09-10T03:41:47Z</dcterms:created>
  <dcterms:modified xsi:type="dcterms:W3CDTF">2026-09-10T03:41:47Z</dcterms:modified>
</cp:coreProperties>
</file>