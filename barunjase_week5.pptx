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장수</c:v>
                </c:pt>
              </c:strCache>
            </c:strRef>
          </c:tx>
          <c:spPr>
            <a:solidFill>
              <a:srgbClr val="12655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626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normal</c:v>
                  </c:pt>
                  <c:pt idx="1">
                    <c:v>slouch_back</c:v>
                  </c:pt>
                  <c:pt idx="2">
                    <c:v>slouch_forward</c:v>
                  </c:pt>
                  <c:pt idx="3">
                    <c:v>tilt_left</c:v>
                  </c:pt>
                  <c:pt idx="4">
                    <c:v>tilt_right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53</c:v>
                </c:pt>
                <c:pt idx="1">
                  <c:v>52</c:v>
                </c:pt>
                <c:pt idx="2">
                  <c:v>50</c:v>
                </c:pt>
                <c:pt idx="3">
                  <c:v>41</c:v>
                </c:pt>
                <c:pt idx="4">
                  <c:v>39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626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3C4A5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Slide-4-image-1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1556" y="621792"/>
            <a:ext cx="1005840" cy="10058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3074" y="883310"/>
            <a:ext cx="482803" cy="482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14400" y="187452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5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임베디드소프트웨어학과 · 바른자세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2286000"/>
            <a:ext cx="10360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수집 착수, 판정 로직 1차 통합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3291840"/>
            <a:ext cx="10360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바른자세 · 5주차 발표 — 화면에 사람이 둘일 때도 동작하게, 매번 기준을 잡지 않아도 되게</a:t>
            </a:r>
            <a:endParaRPr lang="en-US" sz="165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3886200"/>
            <a:ext cx="9445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촬영하면서 부딪힌 문제 → 대응 → 교수님 피드백으로 방향 재정리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3991356" y="4434840"/>
            <a:ext cx="4206240" cy="502920"/>
          </a:xfrm>
          <a:prstGeom prst="roundRect">
            <a:avLst>
              <a:gd name="adj" fmla="val 50909"/>
            </a:avLst>
          </a:prstGeom>
          <a:solidFill>
            <a:srgbClr val="12655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991356" y="44348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5주차 발표 · 구현 + 설계 재정리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603504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발표자: 기안 외 1인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목차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92024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 5주차 계획 대비 진행 상황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274320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74320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 데이터 수집 현황 · 라벨링 교차검증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356616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56616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 촬영 중 발견한 문제와 대응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38912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438912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 판정 로직 · 근접 보완 · 카메라 실측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172200" y="192024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0" y="192024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 교수님 피드백과 방향 재정리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172200" y="274320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0" y="274320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 절대값 판정 설계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172200" y="356616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0" y="356616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 한계 · 카메라 확보 후 할 일 · 6주차 계획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VS ACTUAL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5주차 계획 대비 진행 상황</a:t>
            </a:r>
            <a:endParaRPr lang="en-US" sz="27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08792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1463040"/>
                <a:gridCol w="487375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계획 항목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상태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비고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자체 데이터 수집 착수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6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진행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참가자 2명 235장 (6주차 몫을 앞당김)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판정 로직 + 스테레오·포즈 파이프라인 1차 통합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6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구현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자세·근접 판정, 알림 상태머신 (--judge) — 실시간 실측으로 기준 재보정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근접 사각지대 보완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6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구현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어깨너비 역산 + 얼굴 depth 무효 시 근접 판정(실측 확인). 40cm 미만 정확도는 미검증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depth 필터 튜닝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6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완료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45/60/80cm 실측 → SDK 기본 + 구멍 메우기 ON 확정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거리 정확도 재검증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6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완료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37~92cm 줄자 실측 (정렬 유무 차이 뚜렷하지 않음)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카메라 수령 후 --judge 실측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3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1인 완료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5자세 판정·알림 확인, 한 명 기준이라 참가자·거리 확대 필요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585216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계획에 없던 것: 다인 환경 대응(자동 사용자 인식·추적), 라벨링 교차검증 도구, 교수님 피드백 반영 설계, 실측에서 나온 문제 4건 수정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수집 현황 · 라벨링 교차검증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852160" cy="4343400"/>
          </a:xfrm>
          <a:prstGeom prst="roundRect">
            <a:avLst>
              <a:gd name="adj" fmla="val 2526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8288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클래스별 수집 장수 (총 235장)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2240280"/>
          <a:ext cx="54864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914400" y="54864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참가자 p01 166장 + p02 69장, 전부 2026-10-01 촬영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675120" y="1691640"/>
            <a:ext cx="4873752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/>
        </p:spPr>
      </p:sp>
      <p:sp>
        <p:nvSpPr>
          <p:cNvPr id="9" name="Shape 6"/>
          <p:cNvSpPr/>
          <p:nvPr/>
        </p:nvSpPr>
        <p:spPr>
          <a:xfrm>
            <a:off x="6931152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3798" y="206288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635240" y="1920240"/>
            <a:ext cx="3685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라벨링 교차검증 도구</a:t>
            </a:r>
            <a:endParaRPr lang="en-US" sz="1450" dirty="0"/>
          </a:p>
        </p:txBody>
      </p:sp>
      <p:sp>
        <p:nvSpPr>
          <p:cNvPr id="12" name="Text 8"/>
          <p:cNvSpPr txBox="1"/>
          <p:nvPr/>
        </p:nvSpPr>
        <p:spPr>
          <a:xfrm>
            <a:off x="6949440" y="2560320"/>
            <a:ext cx="4389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전체의 15%(36장)를 클래스 비율 유지로 추출, 파일명 숨겨 블라인드 폴더 생성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촬영 안 한 팀원이 독립 라벨링 → 일치율·혼동 쌍 자동 계산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결과: 불일치 2건 — 고개 기울임이 원인 → "tilt는 몸통 기울임만"으로 정의 확정, 기존 tilt 80장 전수 확인(수정 없음)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949440" y="3840480"/>
            <a:ext cx="2948940" cy="310896"/>
          </a:xfrm>
          <a:prstGeom prst="roundRect">
            <a:avLst>
              <a:gd name="adj" fmla="val 50000"/>
            </a:avLst>
          </a:prstGeom>
          <a:solidFill>
            <a:srgbClr val="12432F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949440" y="3840480"/>
            <a:ext cx="29489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D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일치율 94.4% (34/36) — 기준 통과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6675120" y="4389120"/>
            <a:ext cx="4873752" cy="1645920"/>
          </a:xfrm>
          <a:prstGeom prst="roundRect">
            <a:avLst>
              <a:gd name="adj" fmla="val 6667"/>
            </a:avLst>
          </a:prstGeom>
          <a:solidFill>
            <a:srgbClr val="3A2A22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949440" y="449884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한계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6949440" y="4800600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프로토콜 권장은 3~5명, 날짜·조명·복장 분산. 지금은 2명·하루·한 환경이라 일반화 검증은 아직 못 합니다.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&amp; FIXES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촬영 중 발견한 문제와 대응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520440" cy="44348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758" y="206288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9202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자기 가림 (self-occlusion)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697480"/>
            <a:ext cx="297180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위에서 내려다보는 각도라 고개를 내밀면 머리가 어깨·엉덩이를 가리고, 턱을 괴면 팔이 엉덩이를 가림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대응: 짧은 가림은 마지막 확실한 위치 유지, 긴 가림은 엉덩이-어깨 오프셋을 학습해 어깨를 따라 엉덩이 위치 추정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단위 테스트 포함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334256" y="1691640"/>
            <a:ext cx="3520440" cy="44348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4590288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2934" y="206288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94376" y="19202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화면에 사람이 둘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4608576" y="2697480"/>
            <a:ext cx="297180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MoveNet SinglePose는 여러 명 중 누구를 잡을지 보장하지 않음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대응: 시작 직후 확실히 잡힌 사람을 사용자로 자동 인식 → 관심영역(ROI) + 깊이 0.3~1.0m 밖 제거 → Kalman 필터로 추적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다음 슬라이드에서 구조 설명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8028432" y="1691640"/>
            <a:ext cx="3520440" cy="44348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/>
        </p:spPr>
      </p:sp>
      <p:sp>
        <p:nvSpPr>
          <p:cNvPr id="15" name="Shape 11"/>
          <p:cNvSpPr/>
          <p:nvPr/>
        </p:nvSpPr>
        <p:spPr>
          <a:xfrm>
            <a:off x="8284464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7110" y="206288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988552" y="19202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depth 이상치</a:t>
            </a:r>
            <a:endParaRPr lang="en-US" sz="1450" dirty="0"/>
          </a:p>
        </p:txBody>
      </p:sp>
      <p:sp>
        <p:nvSpPr>
          <p:cNvPr id="18" name="Text 13"/>
          <p:cNvSpPr txBox="1"/>
          <p:nvPr/>
        </p:nvSpPr>
        <p:spPr>
          <a:xfrm>
            <a:off x="8302752" y="2697480"/>
            <a:ext cx="297180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일부 사진에서 약 4.68m의 무효 수준 값이 기록됨 (홀 필링 영향으로 추정)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대응: 필터 비교 도구로 45/60/80cm 실측 — 재현되지 않음(일회성). 단일 픽셀 조회가 배경을 집을 가능성은 남아 keypoint 주변 패치 조회를 검토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특징 확정(6주차) 때 이상치 필터링</a:t>
            </a:r>
            <a:endParaRPr lang="en-US" sz="1350" dirty="0"/>
          </a:p>
        </p:txBody>
      </p:sp>
      <p:sp>
        <p:nvSpPr>
          <p:cNvPr id="19" name="Text 14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MULTI-PERSON HANDLING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다인 환경 대응: 자동 사용자 인식 + 추적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96596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26" y="210860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96596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자동 인식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96112" y="2743200"/>
            <a:ext cx="209397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처음 확실히 잡힌 사람(코·어깨·엉덩이 중 2개 이상, confidence 0.15 이상)을 사용자로 고정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3227832" y="301752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FE0C4"/>
                </a:solidFill>
              </a:rPr>
              <a:t>▶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410712" y="173736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</p:spPr>
      </p:sp>
      <p:sp>
        <p:nvSpPr>
          <p:cNvPr id="11" name="Shape 8"/>
          <p:cNvSpPr/>
          <p:nvPr/>
        </p:nvSpPr>
        <p:spPr>
          <a:xfrm>
            <a:off x="3639312" y="196596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1958" y="2108606"/>
            <a:ext cx="263347" cy="26334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279392" y="196596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ROI 생성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66744" y="2743200"/>
            <a:ext cx="209397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어깨너비 ×2.2로 가로폭, 세로는 최초 값 고정. depth 범위는 사용자 거리 ±0.35m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98464" y="301752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FE0C4"/>
                </a:solidFill>
              </a:rPr>
              <a:t>▶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6181344" y="173736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</p:spPr>
      </p:sp>
      <p:sp>
        <p:nvSpPr>
          <p:cNvPr id="17" name="Shape 13"/>
          <p:cNvSpPr/>
          <p:nvPr/>
        </p:nvSpPr>
        <p:spPr>
          <a:xfrm>
            <a:off x="6409944" y="196596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2590" y="2108606"/>
            <a:ext cx="263347" cy="26334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050024" y="196596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마스킹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6437376" y="2743200"/>
            <a:ext cx="209397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ROI·깊이 범위 밖(다른 사람·배경)을 지운 뒤 MoveNet 입력. 저장 사진에도 동일 적용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8769096" y="301752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FE0C4"/>
                </a:solidFill>
              </a:rPr>
              <a:t>▶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8951976" y="173736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</p:spPr>
      </p:sp>
      <p:sp>
        <p:nvSpPr>
          <p:cNvPr id="23" name="Shape 18"/>
          <p:cNvSpPr/>
          <p:nvPr/>
        </p:nvSpPr>
        <p:spPr>
          <a:xfrm>
            <a:off x="9180576" y="196596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3222" y="2108606"/>
            <a:ext cx="263347" cy="263347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820656" y="196596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Kalman 추적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9208008" y="2743200"/>
            <a:ext cx="209397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위치+속도 예측으로 사용자가 움직이거나 잠깐 가려져도 ROI가 따라감. 'r'로 재인식</a:t>
            </a:r>
            <a:endParaRPr lang="en-US" sz="1300" dirty="0"/>
          </a:p>
        </p:txBody>
      </p:sp>
      <p:sp>
        <p:nvSpPr>
          <p:cNvPr id="27" name="Shape 21"/>
          <p:cNvSpPr/>
          <p:nvPr/>
        </p:nvSpPr>
        <p:spPr>
          <a:xfrm>
            <a:off x="640080" y="4846320"/>
            <a:ext cx="10908792" cy="1188720"/>
          </a:xfrm>
          <a:prstGeom prst="roundRect">
            <a:avLst>
              <a:gd name="adj" fmla="val 9231"/>
            </a:avLst>
          </a:prstGeom>
          <a:solidFill>
            <a:srgbClr val="3A2A22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914400" y="49377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중간에 발견한 버그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914400" y="5230368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처음 마스크는 depth 0(무효) 픽셀도 지웠습니다. 그런데 너무 가까이 와서 depth가 무효가 된 사용자가 마스킹으로 사라져, 근접 구간 인식이 불가능했습니다. 무효 픽셀은 남기도록 고쳤습니다.</a:t>
            </a:r>
            <a:endParaRPr lang="en-US" sz="1300" dirty="0"/>
          </a:p>
        </p:txBody>
      </p:sp>
      <p:sp>
        <p:nvSpPr>
          <p:cNvPr id="30" name="Shape 24"/>
          <p:cNvSpPr/>
          <p:nvPr/>
        </p:nvSpPr>
        <p:spPr>
          <a:xfrm>
            <a:off x="640080" y="6144768"/>
            <a:ext cx="3264408" cy="310896"/>
          </a:xfrm>
          <a:prstGeom prst="roundRect">
            <a:avLst>
              <a:gd name="adj" fmla="val 50000"/>
            </a:avLst>
          </a:prstGeom>
          <a:solidFill>
            <a:srgbClr val="3A2A22"/>
          </a:solidFill>
          <a:ln/>
        </p:spPr>
      </p:sp>
      <p:sp>
        <p:nvSpPr>
          <p:cNvPr id="31" name="Text 25"/>
          <p:cNvSpPr txBox="1"/>
          <p:nvPr/>
        </p:nvSpPr>
        <p:spPr>
          <a:xfrm>
            <a:off x="640080" y="6144768"/>
            <a:ext cx="3264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두 명이 앉은 환경에서의 검증은 아직 — 한계</a:t>
            </a:r>
            <a:endParaRPr lang="en-US" sz="1050" dirty="0"/>
          </a:p>
        </p:txBody>
      </p:sp>
      <p:sp>
        <p:nvSpPr>
          <p:cNvPr id="32" name="Text 26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LOGIC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 로직 1차 통합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자세(정상/주의/경고)와 화면 근접을 따로 판정해 OR로 결합 — 임계값은 10/6 실측 로그(1인) 기반 잠정값 — 6주차에 참가자를 늘려 확정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03120"/>
          <a:ext cx="70408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17520"/>
                <a:gridCol w="22860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판정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잠정 임계값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근거 (실측 중앙값)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화면 근접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머리·가슴 depth &lt; 0.40m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정상 머리 0.43m, 앞숙임 0.35m (실측)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앞숙임 / 뒤기댐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엉덩이−가슴 차 &gt; +0.10 / &lt; −0.11m, 또는 머리−가슴 차 ≤ 0.07m(기댐)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정상 +0.05 / 기댐 −0.12, 머리−가슴 0.15 → 0.06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좌우 기울임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어깨 중점 좌우 치우침 &gt; 어깨너비 0.35배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3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실측에서 정상 인식 (수치 미보정)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주의 단계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경고 임계값의 70% 이상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909560" y="2103120"/>
            <a:ext cx="3639312" cy="2834640"/>
          </a:xfrm>
          <a:prstGeom prst="roundRect">
            <a:avLst>
              <a:gd name="adj" fmla="val 3871"/>
            </a:avLst>
          </a:prstGeom>
          <a:solidFill>
            <a:srgbClr val="12655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138160" y="221284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E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알림 상태머신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2651760"/>
            <a:ext cx="3200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근접: 감지 즉시 1회 → 60초 쿨다운</a:t>
            </a:r>
            <a:endParaRPr lang="en-US" sz="12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자세 경고: 연속 3회(15초) 지속 시 1회 → 5분 쿨다운</a:t>
            </a:r>
            <a:endParaRPr lang="en-US" sz="12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샘플링 5초 간격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507492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카메라 수령 후 실시간 실측(10/6, 1인): 정상 유지, 뒤로 기댐·앞숙임·좌우 기울임 판정 확인. 235장 전체는 depth가 사진에 안 남아 재계산이 불가능하고, 기준값은 한 명 기준이라 참가자·거리를 늘려 다시 보정해야 합니다.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NEAR-RANGE FALLBACK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근접 사각지대 보완: 화면 속 어깨너비로 거리 역산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49240" cy="4343400"/>
          </a:xfrm>
          <a:prstGeom prst="roundRect">
            <a:avLst>
              <a:gd name="adj" fmla="val 2526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758" y="206288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92024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원리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6974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26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 · Z ≈ k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356616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 = 화면 속 어깨너비(화면 너비 대비), Z = 거리. 핀홀 모델에서 w는 Z에 반비례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depth가 유효한 동안 k를 이동 중앙값으로 학습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40cm 미만에서 depth가 사라지면 Z ≈ k / w 로 역산해 근접 여부 판정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199632" y="1691640"/>
            <a:ext cx="5349240" cy="4343400"/>
          </a:xfrm>
          <a:prstGeom prst="roundRect">
            <a:avLst>
              <a:gd name="adj" fmla="val 2526"/>
            </a:avLst>
          </a:prstGeom>
          <a:solidFill>
            <a:srgbClr val="FFFFFF"/>
          </a:solidFill>
          <a:ln/>
        </p:spPr>
      </p:sp>
      <p:sp>
        <p:nvSpPr>
          <p:cNvPr id="11" name="Shape 8"/>
          <p:cNvSpPr/>
          <p:nvPr/>
        </p:nvSpPr>
        <p:spPr>
          <a:xfrm>
            <a:off x="6455664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310" y="2062886"/>
            <a:ext cx="263347" cy="26334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159752" y="192024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한계와 이어지는 과제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6473952" y="2651760"/>
            <a:ext cx="4846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현재 k는 사용자별로 학습 — 앉자마자 10샘플이 쌓이기 전에는 추정 불가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어깨가 가려지면 추정 불가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40cm 미만 어깨너비 추정의 정확도는 미검증. 대신 얼굴 depth가 무효가 되는 것 자체를 근접 신호로 써서 실측 확인 (다음 슬라이드)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→ 교수님 피드백(매번 기준을 잡아야 하나?)에 따라 성인 평균 어깨너비로 시작하는 방식으로 바꿀 계획 (다음 파트)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TEST FINDINGS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카메라 실측으로 드러난 문제와 대응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596896" cy="3840480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758" y="206288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920240"/>
            <a:ext cx="1408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얼굴 마스킹 · 화면 까매짐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2697480"/>
            <a:ext cx="21945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얼굴이 가까워지면 전경 마스크가 얼굴을 지워 사람 인식이 끊김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원인: 구멍 메우기(SDK 기본, 먼 값)가 근접 무효 영역을 배경 거리로 채움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대응: 가까운 값 모드, 최소 거리 0.05m, 마스크 닫힘 연산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410712" y="1691640"/>
            <a:ext cx="2596896" cy="3840480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3666744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390" y="206288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370832" y="1920240"/>
            <a:ext cx="1408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책상이 허리를 가림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3611880" y="2697480"/>
            <a:ext cx="21945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엉덩이가 책상 위치로 추측돼 책상 depth를 읽음 → 정상도 slouch_back 오탐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엉덩이 점수가 0.5 근처라 허리 depth가 켜졌다 꺼짐(정상↔주의 깜빡임)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대응: 엉덩이 confidence ≥ 0.5일 때만 사용, 머리−가슴 depth 차를 보조 신호로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181344" y="1691640"/>
            <a:ext cx="2596896" cy="3840480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/>
        </p:spPr>
      </p:sp>
      <p:sp>
        <p:nvSpPr>
          <p:cNvPr id="15" name="Shape 11"/>
          <p:cNvSpPr/>
          <p:nvPr/>
        </p:nvSpPr>
        <p:spPr>
          <a:xfrm>
            <a:off x="6437376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0022" y="206288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141464" y="1920240"/>
            <a:ext cx="1408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앞으로 숙이면 depth 무효</a:t>
            </a:r>
            <a:endParaRPr lang="en-US" sz="1450" dirty="0"/>
          </a:p>
        </p:txBody>
      </p:sp>
      <p:sp>
        <p:nvSpPr>
          <p:cNvPr id="18" name="Text 13"/>
          <p:cNvSpPr txBox="1"/>
          <p:nvPr/>
        </p:nvSpPr>
        <p:spPr>
          <a:xfrm>
            <a:off x="6382512" y="2697480"/>
            <a:ext cx="21945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얼굴이 약 30cm 안으로 들어와 머리·가슴 depth가 비면 판정 근거가 사라짐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대응: 코는 보이는데 머리 depth만 무효 → 근접 + 앞숙임 판정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실측: WARNING (slouch_forward) [NEAR] 확인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8951976" y="1691640"/>
            <a:ext cx="2596896" cy="3840480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/>
        </p:spPr>
      </p:sp>
      <p:sp>
        <p:nvSpPr>
          <p:cNvPr id="20" name="Shape 15"/>
          <p:cNvSpPr/>
          <p:nvPr/>
        </p:nvSpPr>
        <p:spPr>
          <a:xfrm>
            <a:off x="9208008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50654" y="2062886"/>
            <a:ext cx="263347" cy="26334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912096" y="1920240"/>
            <a:ext cx="1408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기댐 신호의 겹침</a:t>
            </a:r>
            <a:endParaRPr lang="en-US" sz="1450" dirty="0"/>
          </a:p>
        </p:txBody>
      </p:sp>
      <p:sp>
        <p:nvSpPr>
          <p:cNvPr id="23" name="Text 17"/>
          <p:cNvSpPr txBox="1"/>
          <p:nvPr/>
        </p:nvSpPr>
        <p:spPr>
          <a:xfrm>
            <a:off x="9153144" y="2697480"/>
            <a:ext cx="21945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머리−가슴 depth 차: 정상 0.153 / 기댐 0.062 / 심하게 ≈0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앞숙임도 0.062로 줄어 기댐과 겹침 → 근접이 아니고 가슴 ≥ 0.55m일 때만 기댐 신호 사용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한계: 한 명·자세당 1회 값 — 체형·앉는 거리에 따라 달라질 수 있음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640080" y="5715000"/>
            <a:ext cx="5998464" cy="310896"/>
          </a:xfrm>
          <a:prstGeom prst="roundRect">
            <a:avLst>
              <a:gd name="adj" fmla="val 50000"/>
            </a:avLst>
          </a:prstGeom>
          <a:solidFill>
            <a:srgbClr val="3A2A22"/>
          </a:solidFill>
          <a:ln/>
        </p:spPr>
      </p:sp>
      <p:sp>
        <p:nvSpPr>
          <p:cNvPr id="25" name="Text 19"/>
          <p:cNvSpPr txBox="1"/>
          <p:nvPr/>
        </p:nvSpPr>
        <p:spPr>
          <a:xfrm>
            <a:off x="640080" y="5715000"/>
            <a:ext cx="5998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수정 후 정상·뒤기댐·앞숙임·좌우 기울임 판정과 알림 확인(1인) — 다인·다거리 재검증은 6주차</a:t>
            </a:r>
            <a:endParaRPr lang="en-US" sz="1050" dirty="0"/>
          </a:p>
        </p:txBody>
      </p:sp>
      <p:sp>
        <p:nvSpPr>
          <p:cNvPr id="26" name="Text 20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MAPPING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교수님 피드백과 우리 상태</a:t>
            </a:r>
            <a:endParaRPr lang="en-US" sz="2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0879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371600"/>
                <a:gridCol w="587959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피드백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현재 상태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대응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목표를 최소 fps가 아닌 최대 fps로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3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방향 수정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캡처 29.4fps 실측 있음 → 추론·마스킹 포함 전체 파이프라인 fps를 재측정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허리 위치 추정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6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반영됨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가림 보정 스무딩 + 엉덩이−가슴 depth 차 (책상 가림 시 신뢰도↓ → 머리−가슴 depth 차로 보완)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정면 depth로 측면 자세 추정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6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반영됨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실측에서 분리됨: 엉덩이−가슴 정상 +0.05 / 기댐 −0.12m, 머리−가슴 0.15 → 0.06m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앉을 때마다 기준점이 필요한가 → 절대값으로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3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설계함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중력 기준 각도 + 어깨너비 비율 (다음 슬라이드)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체형(복부·여성 체형 등) 두께 차이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3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미해결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비율로 줄이되 한계 인정, 체형 다양한 참가자 확보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거북목, 허리받침에서 엉덩이가 뜬 자세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3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설계함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head_forward_ratio, torso_pitch로 측정 — 클래스 정의는 6주차 논의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팔 위치·책상 높이 고려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3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미착수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어깨-팔꿈치-손목 keypoint로 6주차 이후 검토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POSTURE DESIGN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절대값 판정 설계: 앉는 자리·카메라 각도·체격에 안 흔들리게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874520"/>
            <a:ext cx="457200" cy="457200"/>
          </a:xfrm>
          <a:prstGeom prst="ellipse">
            <a:avLst/>
          </a:prstGeom>
          <a:solidFill>
            <a:srgbClr val="12655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8745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복원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468880"/>
            <a:ext cx="30083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keypoint + depth를 카메라 내부 파라미터로 3D 점(m)으로 되돌림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34256" y="16459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4562856" y="1874520"/>
            <a:ext cx="457200" cy="457200"/>
          </a:xfrm>
          <a:prstGeom prst="ellipse">
            <a:avLst/>
          </a:prstGeom>
          <a:solidFill>
            <a:srgbClr val="12655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62856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157216" y="18745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중력 기준 축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2468880"/>
            <a:ext cx="30083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D455 내장 IMU(가속도계)로 위·앞·옆 축 생성. IMU 없으면 설치 각도 근사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28432" y="16459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8257032" y="1874520"/>
            <a:ext cx="457200" cy="457200"/>
          </a:xfrm>
          <a:prstGeom prst="ellipse">
            <a:avLst/>
          </a:prstGeom>
          <a:solidFill>
            <a:srgbClr val="12655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57032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851392" y="18745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각도·비율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84464" y="2468880"/>
            <a:ext cx="30083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몸통·머리 벡터를 축에 분해 → 각도(°)와 어깨너비 대비 비율로 표현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429000"/>
          <a:ext cx="69494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00400"/>
                <a:gridCol w="17373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특징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의미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대응 피드백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torso_pitch_deg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몸통의 수직 대비 앞(+)/뒤(−) 기울기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숙임·기댐, 엉덩이 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torso_roll_deg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몸통의 좌우 기울기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좌우 기울임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head_forward_ratio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어깨중점→코의 앞방향 성분 ÷ 어깨너비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거북목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shoulder_width_m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두 어깨 3D 거리 (체격 스케일)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체형 정규화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7818120" y="3429000"/>
            <a:ext cx="3730752" cy="2286000"/>
          </a:xfrm>
          <a:prstGeom prst="roundRect">
            <a:avLst>
              <a:gd name="adj" fmla="val 4800"/>
            </a:avLst>
          </a:prstGeom>
          <a:solidFill>
            <a:srgbClr val="3A2A2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046720" y="353872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검증 상태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3840480"/>
            <a:ext cx="3291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합성 3D 자세 테스트에서 거리 0.6→0.9m, 체격 1.25배 변화에도 각도 변화 1° 미만, 카메라를 20° 기울여도 중력 방향을 알면 동일. 이는 계산식 검증이며 실제 사람·카메라 실측은 카메라 확보 후입니다.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40080" y="58978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근접 판정도 사용자별 학습 대신 성인 평균 어깨너비로 시작하는 방식으로 교체 예정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 &amp; NEXT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한계와 카메라 확보 후 할 일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49240" cy="4434840"/>
          </a:xfrm>
          <a:prstGeom prst="roundRect">
            <a:avLst>
              <a:gd name="adj" fmla="val 2474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758" y="206288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92024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아직 검증되지 않은 것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651760"/>
            <a:ext cx="4846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판정(--judge) 기준값 — 1인·자세당 1회 실측, 참가자·앉는 거리·카메라 각도 확대 필요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근접 보완의 40cm 미만 구간 정확도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두 명이 앉은 환경에서의 자동 인식·추적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허리가 책상에 가려질 때 허리 depth 기반 판정 불가 — 머리−가슴 depth 차로 보완(1인 기준값)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절대 특징의 실제 분포·임계값, IMU 연동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체형 다양성 — 참가자 2명, 단일 날짜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199632" y="1691640"/>
            <a:ext cx="5349240" cy="4434840"/>
          </a:xfrm>
          <a:prstGeom prst="roundRect">
            <a:avLst>
              <a:gd name="adj" fmla="val 2474"/>
            </a:avLst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6455664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310" y="206288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59752" y="192024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카메라 확보 상태에서 남은 실측 (체크리스트)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6473952" y="2651760"/>
            <a:ext cx="4846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알림 쿨다운 시간 확인(60초/300초), 40cm 미만 근접, ROI 추적, 다인 환경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참가자·거리·카메라 각도를 바꿔 --judge 로그 재측정, 기준값 재보정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IMU 스트림·내부 파라미터 읽기, 새 특징을 캡처 로그에 기록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거리·카메라 기울기 불변성 실험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새 참가자·다른 조명/복장으로 추가 수집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반납 전 로그 커밋 — depth는 사후 복구 불가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6주차 계획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908792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20240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920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73736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판정 기준 다인·다거리 재보정, 절대 특징 실험(IMU·불변성), 알림 쿨다운 확인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2578608"/>
            <a:ext cx="10908792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822960" y="2761488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276148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257860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라벨링 마무리, 교차검증 결과 반영, 추가 참가자 수집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3419856"/>
            <a:ext cx="10908792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822960" y="3602736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360273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3419856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특징 확정(depth 이상치 필터링 포함)과 임계값 확정 — RULA 참고 + RF 기준모델 학습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4261104"/>
            <a:ext cx="10908792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822960" y="4443984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4443984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4261104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저장 계층 구현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1722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이상으로 5주차 발표를 마치겠습니다. 질문 받겠습니다.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2026-10-06T15:00:42Z</dcterms:created>
  <dcterms:modified xsi:type="dcterms:W3CDTF">2026-10-06T15:00:42Z</dcterms:modified>
</cp:coreProperties>
</file>